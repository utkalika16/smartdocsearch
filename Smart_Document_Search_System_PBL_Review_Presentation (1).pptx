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777240"/>
            <a:ext cx="109728" cy="5120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914400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SMART DOCUMENT</a:t>
            </a:r>
            <a:br/>
            <a:r>
              <a:t>SEARCH SYSTEM</a:t>
            </a:r>
          </a:p>
          <a:p>
            <a:pPr>
              <a:defRPr sz="2000">
                <a:solidFill>
                  <a:srgbClr val="BFDBFE"/>
                </a:solidFill>
              </a:defRPr>
            </a:pPr>
            <a:r>
              <a:t>Data Structures &amp; Algorithms — PBL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834640"/>
            <a:ext cx="97840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FFFFFF"/>
                </a:solidFill>
              </a:defRPr>
            </a:pPr>
            <a:r>
              <a:t>Fast, Fuzzy &amp; Explainable Document Retrieval</a:t>
            </a:r>
          </a:p>
          <a:p>
            <a:pPr>
              <a:spcAft>
                <a:spcPts val="700"/>
              </a:spcAft>
              <a:defRPr sz="1600">
                <a:solidFill>
                  <a:srgbClr val="CBD5E1"/>
                </a:solidFill>
              </a:defRPr>
            </a:pPr>
            <a:r>
              <a:t>Team: Kavitha Reddy • Ambika Naidu • Utkalika • Divya Sri</a:t>
            </a:r>
          </a:p>
          <a:p>
            <a:pPr>
              <a:spcAft>
                <a:spcPts val="700"/>
              </a:spcAft>
              <a:defRPr sz="1600">
                <a:solidFill>
                  <a:srgbClr val="CBD5E1"/>
                </a:solidFill>
              </a:defRPr>
            </a:pPr>
            <a:r>
              <a:t>Roll Numbers: Not provided in the attached project files</a:t>
            </a:r>
          </a:p>
          <a:p>
            <a:pPr>
              <a:spcAft>
                <a:spcPts val="700"/>
              </a:spcAft>
              <a:defRPr sz="1600">
                <a:solidFill>
                  <a:srgbClr val="CBD5E1"/>
                </a:solidFill>
              </a:defRPr>
            </a:pPr>
            <a:r>
              <a:t>Guide: Not specified in the attached project files</a:t>
            </a:r>
          </a:p>
          <a:p>
            <a:pPr>
              <a:spcAft>
                <a:spcPts val="700"/>
              </a:spcAft>
              <a:defRPr sz="1600">
                <a:solidFill>
                  <a:srgbClr val="CBD5E1"/>
                </a:solidFill>
              </a:defRPr>
            </a:pPr>
            <a:r>
              <a:t>Department: Artificial Intelligence &amp; Data Science</a:t>
            </a:r>
          </a:p>
          <a:p>
            <a:pPr>
              <a:spcAft>
                <a:spcPts val="700"/>
              </a:spcAft>
              <a:defRPr sz="1600">
                <a:solidFill>
                  <a:srgbClr val="CBD5E1"/>
                </a:solidFill>
              </a:defRPr>
            </a:pPr>
            <a:r>
              <a:t>College: Not specified in the attached project files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64008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38074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01368"/>
            <a:ext cx="310896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Users often remember the content of a document rather than its filename. Traditional exact search can miss relevant documents when wording changes or a query contains spelling errors.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23444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234440"/>
            <a:ext cx="64008" cy="42976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38074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Need for the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801368"/>
            <a:ext cx="310896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A classroom-scale retrieval engine is needed to demonstrate how core DSA techniques can work together: indexing, exact string matching, fuzzy matching, suffix structures and transparent ranking.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23444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234440"/>
            <a:ext cx="64008" cy="4297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38074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Project Direction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801368"/>
            <a:ext cx="310896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The prototype provides ranked, explainable results over a TXT corpus without depending on a ready-made search library. Each result exposes algorithm-level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Traditional search depends heavily on filenames, exact keywords or manual tags.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Brute-force scanning becomes expensive as the document collection grows.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Users may remember content but not the filename.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Misspelled or approximate queries can be missed by exact matching.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  <a:latin typeface="Aptos"/>
              </a:defRPr>
            </a:pPr>
            <a:r>
              <a:t>• Problem addressed: build an explainable retrieval system that combines multiple DSA techniques to find and rank relevant documents.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34440"/>
            <a:ext cx="64008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3807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01368"/>
            <a:ext cx="306324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Build the search engine from the ground up in Java.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23444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234440"/>
            <a:ext cx="64008" cy="187451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3807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1801368"/>
            <a:ext cx="306324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Apply advanced string-search algorithms for reliable matching.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23444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234440"/>
            <a:ext cx="64008" cy="1874519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38074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Fuzzy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1801368"/>
            <a:ext cx="306324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Use dynamic programming for approximate / misspelled queries.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7472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474720"/>
            <a:ext cx="64008" cy="187451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6210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Similarity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041648"/>
            <a:ext cx="306324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Use suffix structures to add similarity evidence.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47472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474720"/>
            <a:ext cx="64008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7" y="36210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7" y="4041648"/>
            <a:ext cx="306324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Build custom indexing and storage structures.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347472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79" y="3474720"/>
            <a:ext cx="64008" cy="187451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5048" y="362102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4041648"/>
            <a:ext cx="306324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Return ranked results and show why each result matched.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971800"/>
                <a:gridCol w="5943600"/>
              </a:tblGrid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Related work / idea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Contribution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Limitation addressed by this project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KMP string matching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Linear-time exact pattern search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Exact matching alone misses spelling variation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Rabin–Karp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Rolling-hash pattern matching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Provides an independent exact-match path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Levenshtein distance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Edit-distance based fuzzy matching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Handles insertions, deletions and substitutions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Suffix array + LCP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Efficient suffix ordering / prefix comparison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Adds similarity evidence beyond exact keywords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Information retrieval systems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Ranking and indexing concepts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Prototype keeps the ranking heuristic transparent and DSA-focused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58978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Key gap: many practical search systems hide the underlying algorithms; this project makes the DSA contribution visible and explainable.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6492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Dependency-free Java prototype for retrieving relevant TXT documents.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Custom inverted index generates candidate relevance signals.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KMP and Rabin-Karp detect exact phrase occurrences.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Levenshtein edit distance provides fuzzy similarity for approximate queries.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Suffix Array + Kasai LCP provides prefix/similarity evidence.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Weighted, transparent relevance scoring ranks results and exposes the evidence behind each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325880"/>
            <a:ext cx="3840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325880"/>
            <a:ext cx="64008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472184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Key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1892807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Explainable ranking: score + term coverage + exact matches + fuzzy similarity + suffix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743200"/>
            <a:ext cx="3840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2743200"/>
            <a:ext cx="64008" cy="1188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0688" y="2889504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Key Feature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33101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Algorithm comparison: actual System.nanoTime() measurements across implemented methods.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160520"/>
            <a:ext cx="3840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4160520"/>
            <a:ext cx="64008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4306824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Key 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47274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Browser interface for search, comparison, algorithm guide, DP alignment lab and document addition.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14173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Document Files</a:t>
            </a:r>
            <a:br/>
            <a:r>
              <a:t>(.txt)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508760"/>
            <a:ext cx="164592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File Loader +</a:t>
            </a:r>
            <a:br/>
            <a:r>
              <a:t>Text Normalizer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097280"/>
            <a:ext cx="155448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Custom Inverted</a:t>
            </a:r>
            <a:br/>
            <a:r>
              <a:t>Index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2148840"/>
            <a:ext cx="155448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Suffix Array +</a:t>
            </a:r>
            <a:br/>
            <a:r>
              <a:t>Kasai LCP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86200"/>
            <a:ext cx="2057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User Query</a:t>
            </a:r>
            <a:br/>
            <a:r>
              <a:t>Normalize + Tokenize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3657600"/>
            <a:ext cx="24231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Matching Layer</a:t>
            </a:r>
            <a:br/>
            <a:r>
              <a:t>KMP • Rabin-Karp</a:t>
            </a:r>
            <a:br/>
            <a:r>
              <a:t>Edit Distance • Suffix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3657600"/>
            <a:ext cx="169164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Transparent</a:t>
            </a:r>
            <a:br/>
            <a:r>
              <a:t>Relevance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657600"/>
            <a:ext cx="141732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Ranking</a:t>
            </a:r>
            <a:br/>
            <a:r>
              <a:t>Insertion Sort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3657600"/>
            <a:ext cx="182880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Explainable Result</a:t>
            </a:r>
            <a:br/>
            <a:r>
              <a:t>Score • Evidence • Preview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1965960"/>
            <a:ext cx="2286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794760" y="1508760"/>
            <a:ext cx="274320" cy="45720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94760" y="1965960"/>
            <a:ext cx="274320" cy="59436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560320" y="4343400"/>
            <a:ext cx="4114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94960" y="4343400"/>
            <a:ext cx="59436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60" y="4343400"/>
            <a:ext cx="36576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464040" y="4343400"/>
            <a:ext cx="36576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System Architecture — Component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23444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8229600"/>
              </a:tblGrid>
              <a:tr h="6286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Component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File Loader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Reads the current TXT corpus and newly added TXT documents.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Text Normalizer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Normalizes and tokenizes document/query text.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Custom Inverted Index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Maps normalized terms to document IDs using custom hash-table/postings structures.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Suffix Array + Kasai LCP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Stores suffix order and LCP evidence per document.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Search Engine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Combines exact, fuzzy and suffix signals.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Ranking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Uses a project-specific weighted score and custom insertion sort.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Web Server / UI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Exposes search, compare, guide, DP lab and add-document workflows.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9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23444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207008"/>
            <a:ext cx="4754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t>Ingest TXT files from docs/.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37744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50008"/>
            <a:ext cx="4754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t>Normalize and tokenize document text.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52044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93008"/>
            <a:ext cx="4754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t>Build the custom inverted index and per-document suffix structures.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66344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636007"/>
            <a:ext cx="4754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t>Normalize and tokenize the user query.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123444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207008"/>
            <a:ext cx="4754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t>Generate matching evidence using KMP, Rabin-Karp, edit distance and suffix similarity.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37744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350008"/>
            <a:ext cx="4754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t>Combine signals using the transparent relevance heuristic.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352044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493008"/>
            <a:ext cx="4754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t>Rank returned results using insertion sort.</a:t>
            </a:r>
          </a:p>
        </p:txBody>
      </p:sp>
      <p:sp>
        <p:nvSpPr>
          <p:cNvPr id="22" name="Oval 21"/>
          <p:cNvSpPr/>
          <p:nvPr/>
        </p:nvSpPr>
        <p:spPr>
          <a:xfrm>
            <a:off x="6217920" y="4663440"/>
            <a:ext cx="502920" cy="5029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636007"/>
            <a:ext cx="4754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11827"/>
                </a:solidFill>
              </a:defRPr>
            </a:pPr>
            <a:r>
              <a:t>Display score, evidence and a preview for verification.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Algorithms / Techniques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5577840"/>
                <a:gridCol w="2926080"/>
              </a:tblGrid>
              <a:tr h="61395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Technique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Complexity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Custom Inverted Index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Term → document IDs; candidate retrieval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Expected O(1) per term lookup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KMP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Exact phrase search with failure function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O(n + m)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Rabin-Karp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Rolling-hash phrase matching + verification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Expected O(n + m)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Levenshtein DP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Fuzzy / misspelling similarity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O(nm)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Suffix Array + Kasai LCP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Suffix ordering and prefix similarity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Build O(n log²n) practical; LCP O(n)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Insertion Sort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Ranks returned results by score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O(r²)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Relevance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20574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2563EB"/>
                </a:solidFill>
              </a:defRPr>
            </a:pPr>
            <a:r>
              <a:t>45</a:t>
            </a:r>
          </a:p>
          <a:p>
            <a:pPr algn="ctr">
              <a:defRPr sz="1400">
                <a:solidFill>
                  <a:srgbClr val="0F172A"/>
                </a:solidFill>
              </a:defRPr>
            </a:pPr>
            <a:r>
              <a:t>Term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508760"/>
            <a:ext cx="20574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0EA5E9"/>
                </a:solidFill>
              </a:defRPr>
            </a:pPr>
            <a:r>
              <a:t>25</a:t>
            </a:r>
          </a:p>
          <a:p>
            <a:pPr algn="ctr">
              <a:defRPr sz="1400">
                <a:solidFill>
                  <a:srgbClr val="0F172A"/>
                </a:solidFill>
              </a:defRPr>
            </a:pPr>
            <a:r>
              <a:t>Exact phrase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1508760"/>
            <a:ext cx="20574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D97706"/>
                </a:solidFill>
              </a:defRPr>
            </a:pPr>
            <a:r>
              <a:t>15</a:t>
            </a:r>
          </a:p>
          <a:p>
            <a:pPr algn="ctr">
              <a:defRPr sz="1400">
                <a:solidFill>
                  <a:srgbClr val="0F172A"/>
                </a:solidFill>
              </a:defRPr>
            </a:pPr>
            <a:r>
              <a:t>Suffix-prefix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508760"/>
            <a:ext cx="20574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16A34A"/>
                </a:solidFill>
              </a:defRPr>
            </a:pPr>
            <a:r>
              <a:t>15</a:t>
            </a:r>
          </a:p>
          <a:p>
            <a:pPr algn="ctr">
              <a:defRPr sz="1400">
                <a:solidFill>
                  <a:srgbClr val="0F172A"/>
                </a:solidFill>
              </a:defRPr>
            </a:pPr>
            <a:r>
              <a:t>Fuzzy similarity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1508760"/>
            <a:ext cx="20574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DC2626"/>
                </a:solidFill>
              </a:defRPr>
            </a:pPr>
            <a:r>
              <a:t>10</a:t>
            </a:r>
          </a:p>
          <a:p>
            <a:pPr algn="ctr">
              <a:defRPr sz="1400">
                <a:solidFill>
                  <a:srgbClr val="0F172A"/>
                </a:solidFill>
              </a:defRPr>
            </a:pPr>
            <a:r>
              <a:t>Exact-match 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10515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Project-specific heuristic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</a:defRPr>
            </a:pPr>
            <a:r>
              <a:t>• Designed for transparent demonstration and evaluation, not claimed as a universal IR metric.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</a:defRPr>
            </a:pPr>
            <a:r>
              <a:t>• Fuzzy similarity is computed term-by-term against the closest document token.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</a:defRPr>
            </a:pPr>
            <a:r>
              <a:t>• Results expose the signals used, making the ranking explainable during the viva.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Tools &amp;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3444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38074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Programming 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0136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Java (JDK 17+). Core implementation is dependency-free and exposes the DSA logic directly.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344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34440"/>
            <a:ext cx="64008" cy="1828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38074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80136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Java compiler/runtime, file I/O, HTTP server, HTML/CSS/JavaScript browser 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2344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234440"/>
            <a:ext cx="64008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38074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Data &amp; Corpus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80136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Seven sample TXT documents covering machine learning, data structures, network flow, renewable energy, database indexing, traffic signals and Japanese notes.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290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429000"/>
            <a:ext cx="64008" cy="1828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57530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Hardware Requirements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99592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Any standard development laptop/desktop capable of running JDK 17+ and a modern browser; no special accelerator is required.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4290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42900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357530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Interface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399592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Current project includes a browser UI plus the Java search engine; the original Swing/console scope is also retained in the codebase.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4290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3429000"/>
            <a:ext cx="64008" cy="182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93608" y="357530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Implementation 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8" y="399592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Runnable ingestion is TXT-based. PDF/DOCX/OCR are explicitly future ingestion adapters, not claimed as implemented.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Implementation — Modules Developed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28930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Core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70992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SearchEngine, DocumentStore, Document, SearchResult, ResultList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14300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143000"/>
            <a:ext cx="64008" cy="960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28930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Indexing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170992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HashTable, Postings, StringList, custom dynamic structures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37744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377440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52374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Exact Matching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294436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NaiveSearch, KMP, RabinKarp, ZSearch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37744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377440"/>
            <a:ext cx="64008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252374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Fuzzy Matching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294436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EditDistance, AlignmentDP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61188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61188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375818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Suffix Structures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17880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SuffixArray + Kasai LCP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61188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611880"/>
            <a:ext cx="64008" cy="960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8" y="375818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Multi-pattern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417880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AhoCorasick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84632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4846320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7" y="499262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Benchmarking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" y="541324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BenchmarkService; actual System.nanoTime() comparisons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84632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4846320"/>
            <a:ext cx="64008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4808" y="499262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Web 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8" y="541324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WebServer + index/compare/guide/lab/add HTML pages + CSS/JS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Implementation — Working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23444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Load TXT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7360" y="2286000"/>
            <a:ext cx="210312" cy="0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947672" y="1828800"/>
            <a:ext cx="1234440" cy="9144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Normalize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82112" y="2286000"/>
            <a:ext cx="210312" cy="0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92424" y="1828800"/>
            <a:ext cx="1234440" cy="9144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Index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26864" y="2286000"/>
            <a:ext cx="210312" cy="0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837176" y="1828800"/>
            <a:ext cx="1234440" cy="9144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Query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71616" y="2286000"/>
            <a:ext cx="210312" cy="0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81928" y="1828800"/>
            <a:ext cx="123444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Match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16368" y="2286000"/>
            <a:ext cx="210311" cy="0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26680" y="1828800"/>
            <a:ext cx="1234440" cy="9144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Score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61120" y="2286000"/>
            <a:ext cx="210312" cy="0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71432" y="1828800"/>
            <a:ext cx="1234440" cy="9144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Rank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405872" y="2286000"/>
            <a:ext cx="210312" cy="0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616184" y="1828800"/>
            <a:ext cx="123444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337560"/>
            <a:ext cx="10241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Example exact query: “machine learning” → strong term coverage + KMP/Rabin-Karp evidence.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Example fuzzy query: “machine lerning” → Levenshtein similarity keeps the relevant report visible.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  <a:latin typeface="Aptos"/>
              </a:defRPr>
            </a:pPr>
            <a:r>
              <a:t>• Each result shows score, evidence and preview so the user can verify the match.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Results &amp; Screenshots — Search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15</a:t>
            </a:r>
          </a:p>
        </p:txBody>
      </p:sp>
      <p:pic>
        <p:nvPicPr>
          <p:cNvPr id="8" name="Picture 7" descr="search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927080" cy="614648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Results &amp; Screenshots — Performance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16</a:t>
            </a:r>
          </a:p>
        </p:txBody>
      </p:sp>
      <p:pic>
        <p:nvPicPr>
          <p:cNvPr id="8" name="Picture 7" descr="compare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927080" cy="614648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Results &amp; Screenshots — Fuzzy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17</a:t>
            </a:r>
          </a:p>
        </p:txBody>
      </p:sp>
      <p:pic>
        <p:nvPicPr>
          <p:cNvPr id="8" name="Picture 7" descr="fuzzy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927080" cy="614648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Performance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840480"/>
                <a:gridCol w="5303520"/>
              </a:tblGrid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Query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Observed top result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Observation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machine learning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machine_learning.txt — 110.00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Exact term coverage and phrase signals dominate.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machine lerning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machine_learning.txt — 46.56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Fuzzy matching surfaces the intended document despite the typo.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graph algorithms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data_structures.txt — 110.00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Both query terms are covered with exact phrase evidence.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database indexing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database_indexing.txt — 110.00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Exact query strongly identifies the target report.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traffic signal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traffic_signal.txt — 110.00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Exact domain phrase produces the strongest relevance.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Testing — Test Cases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43000"/>
          <a:ext cx="1124712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7132320"/>
              </a:tblGrid>
              <a:tr h="6858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 case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/ observed result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Exact phrase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machine learning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machine_learning.txt ranked first; KMP ×3 and Rabin-Karp ×3.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Multi-term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graph algorithms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data_structures.txt ranked first with 2/2 term coverage.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Misspelling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machine lerning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machine_learning.txt still surfaced through fuzzy similarity.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Indexing concept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database indexing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database_indexing.txt ranked first.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Controller concept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traffic signal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traffic_signal.txt ranked first.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Unit tests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KMP / RK / Edit Distance / Suffix Array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Covered by TestAlgorithms.java.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Explainable retrieval — users can see why a document was ranked.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Handles both exact and approximate queries.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Demonstrates multiple DSA concepts in one practical application.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Custom indexing reduces repeated full-document scanning for term candidates.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Algorithm comparison makes time/quality trade-offs measurable.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Dependency-free core is easy to compile, inspect and demonstrate in a viva.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097280"/>
            <a:ext cx="64008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243584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Academic repositories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664207"/>
            <a:ext cx="10332719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Find reports, notes and project documents by remembered content.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084832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084832"/>
            <a:ext cx="64008" cy="7498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231136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Knowledge bases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651760"/>
            <a:ext cx="10332719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Retrieve internal technical notes when exact wording is unknown.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72384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072384"/>
            <a:ext cx="64008" cy="7498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218688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Document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639312"/>
            <a:ext cx="10332719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Locate TXT-based records without depending on filenames.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59936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059936"/>
            <a:ext cx="64008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206240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Learning platforms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626864"/>
            <a:ext cx="10332719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Demonstrate how exact and fuzzy retrieval behave on educational content.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047488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047488"/>
            <a:ext cx="64008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5193792"/>
            <a:ext cx="103327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Prototype IR systems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5614416"/>
            <a:ext cx="10332719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Serve as a transparent DSA-oriented baseline before adding larger search stacks.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Challenges Faced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23444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15200"/>
              </a:tblGrid>
              <a:tr h="746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Challenge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How the project addresses it</a:t>
                      </a:r>
                    </a:p>
                  </a:txBody>
                  <a:tcPr marL="73152" marR="54864">
                    <a:solidFill>
                      <a:srgbClr val="0F172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Balancing multiple matching signals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Uses a transparent weighted score and exposes each component.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Approximate wording / typos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Levenshtein DP adds fuzzy evidence rather than relying only on exact matches.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Keeping DSA contribution visible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Core algorithms are implemented directly in Java instead of hidden behind a search library.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Performance comparison noise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BenchmarkService repeats measurements and reports actual System.nanoTime() values.</a:t>
                      </a:r>
                    </a:p>
                  </a:txBody>
                  <a:tcPr marL="73152" marR="54864">
                    <a:solidFill>
                      <a:srgbClr val="F1F5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Scope vs. dependencies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827"/>
                          </a:solidFill>
                          <a:latin typeface="Aptos"/>
                        </a:defRPr>
                      </a:pPr>
                      <a:r>
                        <a:t>Current runnable ingestion stays TXT-only so the DSA core remains dependency-free.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PDF/DOCX extraction adapters and OCR for broader document ingestion.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Aho-Corasick for efficient multi-pattern queries in the retrieval pipeline.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BM25-style or learned ranking for more mature information retrieval.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Cross-document suffix structures and compressed postings/indexes.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Multilingual tokenization for Indian-language and mixed-language corpora.</a:t>
            </a:r>
          </a:p>
          <a:p>
            <a:pPr>
              <a:spcAft>
                <a:spcPts val="1000"/>
              </a:spcAft>
              <a:defRPr sz="1900">
                <a:solidFill>
                  <a:srgbClr val="111827"/>
                </a:solidFill>
                <a:latin typeface="Aptos"/>
              </a:defRPr>
            </a:pPr>
            <a:r>
              <a:t>• Web interface, larger corpus, benchmarking and parallel preprocessing.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Smart Document Search demonstrates how advanced DSA algorithms can solve a practical information-retrieval problem.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The system combines indexing, string matching, dynamic programming, suffix structures and ranking.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The output is fast enough for a classroom-scale corpus and, importantly, explainable.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The project provides a strong foundation for multi-format ingestion, multilingual search, richer ranking and larger-scale benchmarking.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384048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Smart Document Search System  •  PBL Review  • 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• Knuth, D. E., Morris, J. H., &amp; Pratt, V. R. (1977). Fast pattern matching in strings. SIAM Journal on Computing, 6(2), 323–350.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• Rabin, M. O., &amp; Karp, R. M. (1987). Efficient randomized pattern-matching algorithms. IBM Journal of Research and Development, 31(2), 249–260.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• Levenshtein, V. I. (1966). Binary codes capable of correcting deletions, insertions, and reversals of digits. Soviet Physics Doklady, 10, 707–710.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• Kasai, T., Lee, G., Arimura, H., Arikawa, S., &amp; Park, K. (2001). Linear-time longest-common-prefix computation in suffix arrays. CPM 2001.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• Oracle. Java SE Documentation — Java Platform Standard Edition. https://docs.oracle.com/en/java/</a:t>
            </a:r>
          </a:p>
          <a:p>
            <a:pPr>
              <a:spcAft>
                <a:spcPts val="10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• Project source files and documentation: Smart_Document_Search_System_PBL_Report.docx, README.md, and source code in the attached project archive.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331720"/>
            <a:ext cx="9601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563EB"/>
                </a:solidFill>
              </a:defRPr>
            </a:pPr>
            <a:r>
              <a:t>Smart Document Search System</a:t>
            </a:r>
          </a:p>
          <a:p>
            <a:pPr algn="ctr">
              <a:defRPr sz="1800">
                <a:solidFill>
                  <a:srgbClr val="475569"/>
                </a:solidFill>
              </a:defRPr>
            </a:pPr>
            <a:r>
              <a:t>Fast • Fuzzy • Explainable • DSA-driven</a:t>
            </a:r>
          </a:p>
          <a:p>
            <a:pPr algn="ctr">
              <a:defRPr sz="1600">
                <a:solidFill>
                  <a:srgbClr val="475569"/>
                </a:solidFill>
              </a:defRPr>
            </a:pPr>
            <a:r>
              <a:t>PBL Review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